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54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540"/>
                </a:solidFill>
                <a:latin typeface="Calibri"/>
              </a:rPr>
              <a:t>Accuracy by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B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5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K-Nearest Neighbors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5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3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54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540"/>
                </a:solidFill>
                <a:latin typeface="Calibri"/>
              </a:rPr>
              <a:t>Correlation of Each Factor with Happiness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5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GDP per Capita</c:v>
                  </c:pt>
                  <c:pt idx="1">
                    <c:v>Healthy Life Exp.</c:v>
                  </c:pt>
                  <c:pt idx="2">
                    <c:v>Social Support</c:v>
                  </c:pt>
                  <c:pt idx="3">
                    <c:v>Freedom of Choice</c:v>
                  </c:pt>
                  <c:pt idx="4">
                    <c:v>Corruption Percep.</c:v>
                  </c:pt>
                  <c:pt idx="5">
                    <c:v>Generosity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0.79</c:v>
                </c:pt>
                <c:pt idx="1">
                  <c:v>0.78</c:v>
                </c:pt>
                <c:pt idx="2">
                  <c:v>0.78</c:v>
                </c:pt>
                <c:pt idx="3">
                  <c:v>0.57</c:v>
                </c:pt>
                <c:pt idx="4">
                  <c:v>0.39</c:v>
                </c:pt>
                <c:pt idx="5">
                  <c:v>0.08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1B25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1C7293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pic>
        <p:nvPicPr>
          <p:cNvPr id="5" name="Image 0" descr="iilm_logo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85800"/>
            <a:ext cx="24323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450592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Machine Learning Internship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48640" y="340156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through the Iris Species Classification and World Happiness Report EDA projects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47365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 Deshwal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20440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520440" y="47365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25SCS1003004504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55080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355080" y="4736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(AI &amp; ML) — 3rd Semester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509760" y="4434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509760" y="47365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 Academy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68680" y="5760720"/>
            <a:ext cx="10424160" cy="0"/>
          </a:xfrm>
          <a:prstGeom prst="line">
            <a:avLst/>
          </a:prstGeom>
          <a:noFill/>
          <a:ln w="12700">
            <a:solidFill>
              <a:srgbClr val="EAF3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58521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Month   •   Completed: June 2026   •   Certificate ID: PA-OL-AIML-2026-0292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ORGANIZATION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Pluto Academy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22960" cy="822960"/>
          </a:xfrm>
          <a:prstGeom prst="ellipse">
            <a:avLst/>
          </a:prstGeom>
          <a:solidFill>
            <a:srgbClr val="0B5A82"/>
          </a:solidFill>
          <a:ln/>
        </p:spPr>
      </p:sp>
      <p:pic>
        <p:nvPicPr>
          <p:cNvPr id="5" name="Image 0" descr="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7977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72768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 Academy is a skills-training organization focused on empowering the next generation of tech professionals through hands-on, project-based learning in emerging technologies.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25146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&amp; Machine Learning Internship program is delivered as a one-month, project-driven track where interns apply core ML concepts to real datasets — building a practical, portfolio-ready foundation in data science.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3931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71" y="406798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4617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of India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49808" y="48554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Program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355848" y="37033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557016" y="3931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079" y="406798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57016" y="4617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UDYAM-RJ-06-0057331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557016" y="48554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Registered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63056" y="37033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64224" y="3931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gradu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287" y="406798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64224" y="4617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India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364224" y="48554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Organization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970264" y="37033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71432" y="3931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7495" y="4067983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71432" y="46177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Assured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9171432" y="4855464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Delivery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29" name="Text 22"/>
          <p:cNvSpPr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Pluto Academy:  </a:t>
            </a:r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Tishant Agrawal   </a:t>
            </a:r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Verify at plutoacademy.in/verify-certificates/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B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190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7190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3957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Projects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7190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0216" y="23957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 Built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5544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7424" y="17190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07424" y="23957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Model Accuracy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0" descr="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81304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34440" y="3703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supervised ML algorithms to a real classification problem end-to-end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1" descr="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9976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34440" y="42702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(EDA) to uncover patterns in real-world data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48640" y="48371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946904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34440" y="48371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workflow: load, clean, visualize, model, and evaluate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8640" y="54041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513832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34440" y="54041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data insights into clear, presentable conclusions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720840" y="3246120"/>
            <a:ext cx="4892040" cy="2834640"/>
          </a:xfrm>
          <a:prstGeom prst="roundRect">
            <a:avLst>
              <a:gd name="adj" fmla="val 3871"/>
            </a:avLst>
          </a:prstGeom>
          <a:solidFill>
            <a:srgbClr val="1B2540"/>
          </a:solidFill>
          <a:ln/>
        </p:spPr>
      </p:sp>
      <p:sp>
        <p:nvSpPr>
          <p:cNvPr id="30" name="Text 24"/>
          <p:cNvSpPr/>
          <p:nvPr/>
        </p:nvSpPr>
        <p:spPr>
          <a:xfrm>
            <a:off x="7040880" y="3474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DOMAIN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040880" y="37490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&amp;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7040880" y="4617720"/>
            <a:ext cx="420624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04088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052560" y="4754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PA-OL-AIML-2026-0292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040880" y="5138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9052560" y="51389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040880" y="55229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 Reg.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9052560" y="55229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UDYAM-RJ-06-0057331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WORKED WITH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54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777240" cy="777240"/>
          </a:xfrm>
          <a:prstGeom prst="ellipse">
            <a:avLst/>
          </a:prstGeom>
          <a:solidFill>
            <a:srgbClr val="0B5A82"/>
          </a:solidFill>
          <a:ln/>
        </p:spPr>
      </p:sp>
      <p:pic>
        <p:nvPicPr>
          <p:cNvPr id="6" name="Image 0" descr="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7078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842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468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54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84248"/>
            <a:ext cx="777240" cy="777240"/>
          </a:xfrm>
          <a:prstGeom prst="ellipse">
            <a:avLst/>
          </a:prstGeom>
          <a:solidFill>
            <a:srgbClr val="0B5A82"/>
          </a:solidFill>
          <a:ln/>
        </p:spPr>
      </p:sp>
      <p:pic>
        <p:nvPicPr>
          <p:cNvPr id="11" name="Image 1" descr="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58" y="2170786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9842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2468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analysis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54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84248"/>
            <a:ext cx="777240" cy="777240"/>
          </a:xfrm>
          <a:prstGeom prst="ellipse">
            <a:avLst/>
          </a:prstGeom>
          <a:solidFill>
            <a:srgbClr val="0B5A82"/>
          </a:solidFill>
          <a:ln/>
        </p:spPr>
      </p:sp>
      <p:pic>
        <p:nvPicPr>
          <p:cNvPr id="16" name="Image 2" descr="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8" y="2170786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19842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372600" y="2468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evaluation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0332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54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399592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8" y="4182466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3995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783080" y="4480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70332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54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99592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258" y="4182466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3995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577840" y="4480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notebook environment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70332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54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99592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lay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9018" y="4182466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3995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372600" y="4480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0B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Flower Species Classification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machine learning project classifying flowers into three species using their sepal and petal measurements.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AF3F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6700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21031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AF3F7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93008" y="26700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21031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A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300216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0216" y="26700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Species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70264" y="21031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07424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07424" y="26700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37673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Iris dataset from Scikit-learn into a Pandas DataFrame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16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389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structure, data types, and confirmed there were zero missing values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383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501091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feature relationships across species using a Seaborn pairplot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37947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19672" y="37673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 into training (120) and testing (30) samples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4416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19672" y="4389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Logistic Regression, KNN, and Random Forest classifiers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50383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19672" y="501091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and compared models with accuracy scores and a confusion matrix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 —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B2540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8288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FC1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7772400" y="2743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achieved by all three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 the held-out test set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18120" y="3520440"/>
            <a:ext cx="347472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36576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confusion matrix showed zero misclassifications across all three species on the 30-sample test set — confirming the Iris dataset is highly separable using petal and sepal measurements.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Happiness Report — EDA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data analysis identifying which socio-economic factors relate most strongly to happiness scores across 156 countries.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AF3F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6700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Analyzed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21031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AF3F7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93008" y="26700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21031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A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300216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0216" y="26700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70264" y="210312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07424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07424" y="26700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Year Studied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37673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and loaded the 2019 World Happiness Report CSV with Pandas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16552"/>
            <a:ext cx="384048" cy="38404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389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 and duplicates — dataset was already clean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38344"/>
            <a:ext cx="384048" cy="38404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501091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the Top 10 and Bottom 10 happiest countries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3794760"/>
            <a:ext cx="384048" cy="38404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19672" y="37673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GDP per capita against happiness score to study the relationship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4416552"/>
            <a:ext cx="384048" cy="38404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4416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19672" y="43891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correlation heatmap across all contributing factors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5038344"/>
            <a:ext cx="384048" cy="38404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19672" y="501091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factors by their correlation strength with the happiness score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 — KEY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Happiness Scores?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5448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412480" y="2194560"/>
            <a:ext cx="109728" cy="10972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8" name="Text 5"/>
          <p:cNvSpPr/>
          <p:nvPr/>
        </p:nvSpPr>
        <p:spPr>
          <a:xfrm>
            <a:off x="8641080" y="207568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is the strongest single predictor of a country's happiness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12480" y="3035808"/>
            <a:ext cx="109728" cy="10972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10" name="Text 7"/>
          <p:cNvSpPr/>
          <p:nvPr/>
        </p:nvSpPr>
        <p:spPr>
          <a:xfrm>
            <a:off x="8641080" y="291693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 expectancy and social support follow closely behind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12480" y="3877056"/>
            <a:ext cx="109728" cy="10972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12" name="Text 9"/>
          <p:cNvSpPr/>
          <p:nvPr/>
        </p:nvSpPr>
        <p:spPr>
          <a:xfrm>
            <a:off x="8641080" y="3758184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Finland, Denmark, and Norway top the 2019 happiness rankings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412480" y="4718304"/>
            <a:ext cx="109728" cy="109728"/>
          </a:xfrm>
          <a:prstGeom prst="ellipse">
            <a:avLst/>
          </a:prstGeom>
          <a:solidFill>
            <a:srgbClr val="0B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8641080" y="45994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Generosity shows almost no correlation with happiness scores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GAINED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B254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01952"/>
            <a:ext cx="548640" cy="548640"/>
          </a:xfrm>
          <a:prstGeom prst="ellipse">
            <a:avLst/>
          </a:prstGeom>
          <a:solidFill>
            <a:srgbClr val="3FC1B0"/>
          </a:solidFill>
          <a:ln/>
        </p:spPr>
      </p:sp>
      <p:pic>
        <p:nvPicPr>
          <p:cNvPr id="6" name="Image 0" descr="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03362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4203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clean, reusable analysis code with Pandas &amp; NumPy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43400" y="16459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B2540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1901952"/>
            <a:ext cx="548640" cy="548640"/>
          </a:xfrm>
          <a:prstGeom prst="ellipse">
            <a:avLst/>
          </a:prstGeom>
          <a:solidFill>
            <a:srgbClr val="3FC1B0"/>
          </a:solidFill>
          <a:ln/>
        </p:spPr>
      </p:sp>
      <p:pic>
        <p:nvPicPr>
          <p:cNvPr id="11" name="Image 1" descr="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106" y="203362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4203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9432" y="28346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patterns clearly using Matplotlib &amp; Seaborn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B2540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901952"/>
            <a:ext cx="548640" cy="548640"/>
          </a:xfrm>
          <a:prstGeom prst="ellipse">
            <a:avLst/>
          </a:prstGeom>
          <a:solidFill>
            <a:srgbClr val="3FC1B0"/>
          </a:solidFill>
          <a:ln/>
        </p:spPr>
      </p:sp>
      <p:pic>
        <p:nvPicPr>
          <p:cNvPr id="16" name="Image 2" descr="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866" y="203362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54203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94192" y="28346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tuning classifiers with Scikit-learn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7764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390814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41655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04672" y="47091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accuracy scores and confusion matrices to validate results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43400" y="35204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37764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106" y="390814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41655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99432" y="47091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right questions before modeling begins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138160" y="35204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94192" y="37764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handsh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5866" y="390814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416552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Workflow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94192" y="47091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Structuring, documenting, and presenting a data project end-to-end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Certification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  <a:effectLst>
            <a:outerShdw sx="100000" sy="100000" kx="0" ky="0" algn="bl" rotWithShape="0" blurRad="177800" dist="63500" dir="5400000">
              <a:srgbClr val="1B2540">
                <a:alpha val="18000"/>
              </a:srgbClr>
            </a:outerShdw>
          </a:effectLst>
        </p:spPr>
      </p:sp>
      <p:pic>
        <p:nvPicPr>
          <p:cNvPr id="5" name="Image 0" descr="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603504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60020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1B2540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DETAILS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06640" y="22402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15400" y="22402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Pluto Academy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06640" y="26243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15400" y="26243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406640" y="300837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915400" y="300837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 Deshwal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406640" y="339242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915400" y="339242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406640" y="37764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915400" y="377647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4160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915400" y="41605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PA-OL-AIML-2026-0292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406640" y="45445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 No.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915400" y="45445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UDYAM-RJ-06-0057331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406640" y="4983480"/>
            <a:ext cx="393192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0" y="51114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Tishant Agrawal, Founder — Pluto Academy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0B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from the Internship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745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two full applied-ML projects covering both classification and exploratory data analysis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8639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743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compared three classification models, achieving 100% test accuracy on the Iris dataset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7325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6118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GDP, health, and social support as the strongest drivers of national happiness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60126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4805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hands-on, portfolio-ready experience with the end-to-end data science workflow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24325A"/>
          </a:solidFill>
          <a:ln/>
        </p:spPr>
      </p:sp>
      <p:sp>
        <p:nvSpPr>
          <p:cNvPr id="18" name="Text 12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strengthened my practical grounding in AI &amp; Machine Learning and lays a strong foundation for more advanced, real-world data science work ahead.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Internship  |  Nishant Deshwal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18311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926080"/>
            <a:ext cx="5943600" cy="594360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-2560320"/>
            <a:ext cx="5029200" cy="5029200"/>
          </a:xfrm>
          <a:prstGeom prst="ellipse">
            <a:avLst/>
          </a:prstGeom>
          <a:solidFill>
            <a:srgbClr val="0B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0" y="3977640"/>
            <a:ext cx="3200400" cy="0"/>
          </a:xfrm>
          <a:prstGeom prst="line">
            <a:avLst/>
          </a:prstGeom>
          <a:noFill/>
          <a:ln w="25400">
            <a:solidFill>
              <a:srgbClr val="3FC1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16052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 Deshwal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4553712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(AI &amp; ML), 3rd Semester  •  IILM University, Greater Noida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nishantdeshwal2005@gmail.com   •   github.com/nishant-deshwal05   •   linkedin.com/in/nishant-deshwal-279281359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2026-08-30T08:45:17Z</dcterms:created>
  <dcterms:modified xsi:type="dcterms:W3CDTF">2026-08-30T08:45:17Z</dcterms:modified>
</cp:coreProperties>
</file>